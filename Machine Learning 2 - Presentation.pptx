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Golos Text"/>
      <p:regular r:id="rId15"/>
      <p:bold r:id="rId16"/>
    </p:embeddedFont>
    <p:embeddedFont>
      <p:font typeface="Commissioner"/>
      <p:regular r:id="rId17"/>
      <p:bold r:id="rId18"/>
    </p:embeddedFont>
    <p:embeddedFont>
      <p:font typeface="Golos Text SemiBo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lk2kcAG49AHUgtBDd4NybIx5+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losTextSemiBold-bold.fntdata"/><Relationship Id="rId21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GolosText-regular.fntdata"/><Relationship Id="rId14" Type="http://schemas.openxmlformats.org/officeDocument/2006/relationships/slide" Target="slides/slide10.xml"/><Relationship Id="rId17" Type="http://schemas.openxmlformats.org/officeDocument/2006/relationships/font" Target="fonts/Commissioner-regular.fntdata"/><Relationship Id="rId16" Type="http://schemas.openxmlformats.org/officeDocument/2006/relationships/font" Target="fonts/GolosText-bold.fntdata"/><Relationship Id="rId19" Type="http://schemas.openxmlformats.org/officeDocument/2006/relationships/font" Target="fonts/GolosTextSemiBold-regular.fntdata"/><Relationship Id="rId18" Type="http://schemas.openxmlformats.org/officeDocument/2006/relationships/font" Target="fonts/Commissioner-bold.fntdata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log-RMSE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XGBoost</c:v>
                </c:pt>
                <c:pt idx="1">
                  <c:v>LightGBM</c:v>
                </c:pt>
                <c:pt idx="2">
                  <c:v>CatBoost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0.13020000000000001</c:v>
                </c:pt>
                <c:pt idx="1">
                  <c:v>0.13039999999999999</c:v>
                </c:pt>
                <c:pt idx="2">
                  <c:v>0.12089999999999999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14-C545-8727-492B86A0F0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4000000000000001"/>
          <c:min val="0.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br>
              <a:rPr lang="en"/>
            </a:br>
            <a:r>
              <a:rPr lang="en"/>
              <a:t>[Talk track]</a:t>
            </a:r>
            <a:br>
              <a:rPr lang="en"/>
            </a:br>
            <a:r>
              <a:rPr lang="en"/>
              <a:t>• Quick map: what each notebook does.</a:t>
            </a:r>
            <a:br>
              <a:rPr lang="en"/>
            </a:br>
            <a:r>
              <a:rPr lang="en"/>
              <a:t>• The key idea is modular + reproducible: I can iterate on modeling without redoing preprocessing.</a:t>
            </a:r>
            <a:br>
              <a:rPr lang="en"/>
            </a:br>
            <a:br>
              <a:rPr lang="en"/>
            </a:br>
            <a:r>
              <a:rPr lang="en"/>
              <a:t>[Sources]</a:t>
            </a:r>
            <a:br>
              <a:rPr lang="en"/>
            </a:br>
            <a:r>
              <a:rPr lang="en"/>
              <a:t>• (Project work; no external sources for this slide.)</a:t>
            </a:r>
            <a:br>
              <a:rPr lang="en"/>
            </a:br>
            <a:r>
              <a:rPr lang="en"/>
              <a:t>  </a:t>
            </a:r>
            <a:endParaRPr/>
          </a:p>
        </p:txBody>
      </p:sp>
      <p:sp>
        <p:nvSpPr>
          <p:cNvPr id="296" name="Google Shape;29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br>
              <a:rPr lang="en"/>
            </a:br>
            <a:r>
              <a:rPr lang="en"/>
              <a:t>[Talk track]</a:t>
            </a:r>
            <a:br>
              <a:rPr lang="en"/>
            </a:br>
            <a:r>
              <a:rPr lang="en"/>
              <a:t>• Notebook 3 is the modeling stage: I use LASSO to shrink/select features, then train boosting models.</a:t>
            </a:r>
            <a:br>
              <a:rPr lang="en"/>
            </a:br>
            <a:r>
              <a:rPr lang="en"/>
              <a:t>• On my validation comparison, CatBoost had the best mean validation log-RMSE (≈0.1209).</a:t>
            </a:r>
            <a:br>
              <a:rPr lang="en"/>
            </a:br>
            <a:r>
              <a:rPr lang="en"/>
              <a:t>• The table also shows the overfit gap (val − train) to sanity-check generalization.</a:t>
            </a:r>
            <a:br>
              <a:rPr lang="en"/>
            </a:br>
            <a:br>
              <a:rPr lang="en"/>
            </a:br>
            <a:r>
              <a:rPr lang="en"/>
              <a:t>[Sources]</a:t>
            </a:r>
            <a:br>
              <a:rPr lang="en"/>
            </a:br>
            <a:r>
              <a:rPr lang="en"/>
              <a:t>• https://www.kaggle.com/competitions/house-prices-advanced-regression-techniques</a:t>
            </a:r>
            <a:br>
              <a:rPr lang="en"/>
            </a:br>
            <a:r>
              <a:rPr lang="en"/>
              <a:t>  </a:t>
            </a:r>
            <a:endParaRPr/>
          </a:p>
        </p:txBody>
      </p:sp>
      <p:sp>
        <p:nvSpPr>
          <p:cNvPr id="326" name="Google Shape;32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5a9fe17bf_7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b5a9fe17bf_7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b5d290a6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b5d290a6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b5d290a61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b5d290a61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b5d290a61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b5d290a61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5d290a61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b5d290a61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reepik.com/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60"/>
          <p:cNvSpPr txBox="1"/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10" name="Google Shape;10;p60"/>
          <p:cNvSpPr txBox="1"/>
          <p:nvPr>
            <p:ph idx="1" type="subTitle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1" name="Google Shape;11;p60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12;p60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3" name="Google Shape;13;p60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60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" name="Google Shape;15;p6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8" name="Google Shape;18;p61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61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20" name="Google Shape;20;p61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61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2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" name="Google Shape;24;p62"/>
          <p:cNvSpPr txBox="1"/>
          <p:nvPr>
            <p:ph idx="1" type="subTitle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2"/>
          <p:cNvSpPr txBox="1"/>
          <p:nvPr>
            <p:ph idx="2" type="subTitle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6" name="Google Shape;26;p62"/>
          <p:cNvSpPr txBox="1"/>
          <p:nvPr>
            <p:ph idx="3" type="title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27" name="Google Shape;27;p62"/>
          <p:cNvSpPr txBox="1"/>
          <p:nvPr>
            <p:ph idx="4" type="subTitle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2"/>
          <p:cNvSpPr txBox="1"/>
          <p:nvPr>
            <p:ph idx="5" type="subTitle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9" name="Google Shape;29;p62"/>
          <p:cNvSpPr txBox="1"/>
          <p:nvPr>
            <p:ph idx="6" type="title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30" name="Google Shape;30;p62"/>
          <p:cNvSpPr txBox="1"/>
          <p:nvPr>
            <p:ph idx="7" type="subTitle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2"/>
          <p:cNvSpPr txBox="1"/>
          <p:nvPr>
            <p:ph idx="8" type="subTitle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2" name="Google Shape;32;p62"/>
          <p:cNvSpPr txBox="1"/>
          <p:nvPr>
            <p:ph idx="9" type="title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33" name="Google Shape;33;p62"/>
          <p:cNvSpPr txBox="1"/>
          <p:nvPr>
            <p:ph idx="13" type="subTitle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2"/>
          <p:cNvSpPr txBox="1"/>
          <p:nvPr>
            <p:ph idx="14" type="subTitle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5" name="Google Shape;35;p62"/>
          <p:cNvSpPr txBox="1"/>
          <p:nvPr>
            <p:ph idx="15" type="title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cxnSp>
        <p:nvCxnSpPr>
          <p:cNvPr id="36" name="Google Shape;36;p62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63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39" name="Google Shape;39;p63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63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p63"/>
          <p:cNvSpPr txBox="1"/>
          <p:nvPr>
            <p:ph type="title"/>
          </p:nvPr>
        </p:nvSpPr>
        <p:spPr>
          <a:xfrm>
            <a:off x="4082225" y="544275"/>
            <a:ext cx="42243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42" name="Google Shape;42;p63"/>
          <p:cNvSpPr txBox="1"/>
          <p:nvPr>
            <p:ph idx="1" type="subTitle"/>
          </p:nvPr>
        </p:nvSpPr>
        <p:spPr>
          <a:xfrm>
            <a:off x="4082150" y="1747875"/>
            <a:ext cx="4224300" cy="25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grpSp>
        <p:nvGrpSpPr>
          <p:cNvPr id="43" name="Google Shape;43;p63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44" name="Google Shape;44;p63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" name="Google Shape;45;p63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6" name="Google Shape;46;p63"/>
          <p:cNvSpPr/>
          <p:nvPr>
            <p:ph idx="2" type="pic"/>
          </p:nvPr>
        </p:nvSpPr>
        <p:spPr>
          <a:xfrm>
            <a:off x="592075" y="544275"/>
            <a:ext cx="3312000" cy="388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5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50" name="Google Shape;50;p65"/>
          <p:cNvSpPr txBox="1"/>
          <p:nvPr>
            <p:ph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51" name="Google Shape;51;p65"/>
          <p:cNvSpPr txBox="1"/>
          <p:nvPr>
            <p:ph idx="1" type="subTitle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52" name="Google Shape;52;p65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65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6"/>
          <p:cNvSpPr txBox="1"/>
          <p:nvPr>
            <p:ph type="title"/>
          </p:nvPr>
        </p:nvSpPr>
        <p:spPr>
          <a:xfrm>
            <a:off x="1962900" y="829786"/>
            <a:ext cx="5218200" cy="13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6" name="Google Shape;56;p66"/>
          <p:cNvSpPr txBox="1"/>
          <p:nvPr>
            <p:ph idx="1" type="subTitle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57" name="Google Shape;57;p66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66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59" name="Google Shape;59;p66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" name="Google Shape;60;p66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7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3" name="Google Shape;63;p67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7"/>
          <p:cNvSpPr txBox="1"/>
          <p:nvPr>
            <p:ph idx="2" type="subTitle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7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67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67" name="Google Shape;67;p67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" name="Google Shape;68;p67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8"/>
          <p:cNvSpPr txBox="1"/>
          <p:nvPr>
            <p:ph idx="1" type="body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/>
        </p:txBody>
      </p:sp>
      <p:sp>
        <p:nvSpPr>
          <p:cNvPr id="71" name="Google Shape;71;p6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2" name="Google Shape;72;p68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68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74" name="Google Shape;74;p68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68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8" name="Google Shape;78;p69"/>
          <p:cNvSpPr txBox="1"/>
          <p:nvPr>
            <p:ph idx="1" type="subTitle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9"/>
          <p:cNvSpPr txBox="1"/>
          <p:nvPr>
            <p:ph idx="2" type="subTitle"/>
          </p:nvPr>
        </p:nvSpPr>
        <p:spPr>
          <a:xfrm>
            <a:off x="2954672" y="1519425"/>
            <a:ext cx="431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0" name="Google Shape;80;p69"/>
          <p:cNvSpPr txBox="1"/>
          <p:nvPr>
            <p:ph idx="3" type="subTitle"/>
          </p:nvPr>
        </p:nvSpPr>
        <p:spPr>
          <a:xfrm>
            <a:off x="2954649" y="3619500"/>
            <a:ext cx="4312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9"/>
          <p:cNvSpPr txBox="1"/>
          <p:nvPr>
            <p:ph idx="4" type="subTitle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2" name="Google Shape;82;p69"/>
          <p:cNvSpPr/>
          <p:nvPr/>
        </p:nvSpPr>
        <p:spPr>
          <a:xfrm flipH="1"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69"/>
          <p:cNvCxnSpPr/>
          <p:nvPr/>
        </p:nvCxnSpPr>
        <p:spPr>
          <a:xfrm rot="10800000">
            <a:off x="8864825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0"/>
          <p:cNvSpPr txBox="1"/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86" name="Google Shape;86;p70"/>
          <p:cNvSpPr txBox="1"/>
          <p:nvPr>
            <p:ph idx="2" type="title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87" name="Google Shape;87;p70"/>
          <p:cNvSpPr txBox="1"/>
          <p:nvPr>
            <p:ph idx="1" type="subTitle"/>
          </p:nvPr>
        </p:nvSpPr>
        <p:spPr>
          <a:xfrm flipH="1">
            <a:off x="2052825" y="3573275"/>
            <a:ext cx="55791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88" name="Google Shape;88;p70"/>
          <p:cNvSpPr/>
          <p:nvPr/>
        </p:nvSpPr>
        <p:spPr>
          <a:xfrm flipH="1">
            <a:off x="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70"/>
          <p:cNvCxnSpPr/>
          <p:nvPr/>
        </p:nvCxnSpPr>
        <p:spPr>
          <a:xfrm rot="10800000">
            <a:off x="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92" name="Google Shape;92;p71"/>
          <p:cNvSpPr txBox="1"/>
          <p:nvPr>
            <p:ph idx="1" type="subTitle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1"/>
          <p:cNvSpPr txBox="1"/>
          <p:nvPr>
            <p:ph idx="2" type="subTitle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94" name="Google Shape;94;p71"/>
          <p:cNvSpPr txBox="1"/>
          <p:nvPr>
            <p:ph idx="3" type="subTitle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1"/>
          <p:cNvSpPr txBox="1"/>
          <p:nvPr>
            <p:ph idx="4" type="subTitle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96" name="Google Shape;96;p71"/>
          <p:cNvSpPr txBox="1"/>
          <p:nvPr>
            <p:ph idx="5" type="subTitle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1"/>
          <p:cNvSpPr txBox="1"/>
          <p:nvPr>
            <p:ph idx="6" type="subTitle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6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2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0" name="Google Shape;100;p72"/>
          <p:cNvSpPr txBox="1"/>
          <p:nvPr>
            <p:ph idx="1" type="subTitle"/>
          </p:nvPr>
        </p:nvSpPr>
        <p:spPr>
          <a:xfrm>
            <a:off x="1877250" y="1850002"/>
            <a:ext cx="2318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2"/>
          <p:cNvSpPr txBox="1"/>
          <p:nvPr>
            <p:ph idx="2" type="subTitle"/>
          </p:nvPr>
        </p:nvSpPr>
        <p:spPr>
          <a:xfrm>
            <a:off x="1877250" y="1375200"/>
            <a:ext cx="231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02" name="Google Shape;102;p72"/>
          <p:cNvSpPr txBox="1"/>
          <p:nvPr>
            <p:ph idx="3" type="subTitle"/>
          </p:nvPr>
        </p:nvSpPr>
        <p:spPr>
          <a:xfrm>
            <a:off x="1877250" y="3515601"/>
            <a:ext cx="2318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72"/>
          <p:cNvSpPr txBox="1"/>
          <p:nvPr>
            <p:ph idx="4" type="subTitle"/>
          </p:nvPr>
        </p:nvSpPr>
        <p:spPr>
          <a:xfrm>
            <a:off x="1877250" y="3040799"/>
            <a:ext cx="231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04" name="Google Shape;104;p72"/>
          <p:cNvSpPr txBox="1"/>
          <p:nvPr>
            <p:ph idx="5" type="subTitle"/>
          </p:nvPr>
        </p:nvSpPr>
        <p:spPr>
          <a:xfrm>
            <a:off x="6112075" y="1850002"/>
            <a:ext cx="2318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72"/>
          <p:cNvSpPr txBox="1"/>
          <p:nvPr>
            <p:ph idx="6" type="subTitle"/>
          </p:nvPr>
        </p:nvSpPr>
        <p:spPr>
          <a:xfrm>
            <a:off x="6112075" y="1375200"/>
            <a:ext cx="231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06" name="Google Shape;106;p72"/>
          <p:cNvSpPr txBox="1"/>
          <p:nvPr>
            <p:ph idx="7" type="subTitle"/>
          </p:nvPr>
        </p:nvSpPr>
        <p:spPr>
          <a:xfrm>
            <a:off x="6112075" y="3515601"/>
            <a:ext cx="2318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2"/>
          <p:cNvSpPr txBox="1"/>
          <p:nvPr>
            <p:ph idx="8" type="subTitle"/>
          </p:nvPr>
        </p:nvSpPr>
        <p:spPr>
          <a:xfrm>
            <a:off x="6112075" y="3040799"/>
            <a:ext cx="231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08" name="Google Shape;108;p72"/>
          <p:cNvSpPr/>
          <p:nvPr/>
        </p:nvSpPr>
        <p:spPr>
          <a:xfrm flipH="1">
            <a:off x="886020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72"/>
          <p:cNvCxnSpPr/>
          <p:nvPr/>
        </p:nvCxnSpPr>
        <p:spPr>
          <a:xfrm rot="10800000">
            <a:off x="9002100" y="-26"/>
            <a:ext cx="0" cy="39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112" name="Google Shape;112;p73"/>
          <p:cNvGrpSpPr/>
          <p:nvPr/>
        </p:nvGrpSpPr>
        <p:grpSpPr>
          <a:xfrm flipH="1">
            <a:off x="0" y="4876025"/>
            <a:ext cx="9144000" cy="267600"/>
            <a:chOff x="0" y="4876025"/>
            <a:chExt cx="9144000" cy="267600"/>
          </a:xfrm>
        </p:grpSpPr>
        <p:sp>
          <p:nvSpPr>
            <p:cNvPr id="113" name="Google Shape;113;p73"/>
            <p:cNvSpPr/>
            <p:nvPr/>
          </p:nvSpPr>
          <p:spPr>
            <a:xfrm>
              <a:off x="0" y="4876025"/>
              <a:ext cx="9144000" cy="26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" name="Google Shape;114;p73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6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4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17" name="Google Shape;117;p74"/>
          <p:cNvSpPr txBox="1"/>
          <p:nvPr>
            <p:ph idx="1" type="subTitle"/>
          </p:nvPr>
        </p:nvSpPr>
        <p:spPr>
          <a:xfrm>
            <a:off x="713250" y="3515601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74"/>
          <p:cNvSpPr txBox="1"/>
          <p:nvPr>
            <p:ph idx="2" type="subTitle"/>
          </p:nvPr>
        </p:nvSpPr>
        <p:spPr>
          <a:xfrm>
            <a:off x="713250" y="3040799"/>
            <a:ext cx="240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19" name="Google Shape;119;p74"/>
          <p:cNvSpPr txBox="1"/>
          <p:nvPr>
            <p:ph idx="3" type="subTitle"/>
          </p:nvPr>
        </p:nvSpPr>
        <p:spPr>
          <a:xfrm>
            <a:off x="6030450" y="3515601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74"/>
          <p:cNvSpPr txBox="1"/>
          <p:nvPr>
            <p:ph idx="4" type="subTitle"/>
          </p:nvPr>
        </p:nvSpPr>
        <p:spPr>
          <a:xfrm>
            <a:off x="6030450" y="3040799"/>
            <a:ext cx="240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21" name="Google Shape;121;p74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74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23" name="Google Shape;123;p74"/>
          <p:cNvSpPr txBox="1"/>
          <p:nvPr>
            <p:ph idx="7" type="subTitle"/>
          </p:nvPr>
        </p:nvSpPr>
        <p:spPr>
          <a:xfrm>
            <a:off x="2042531" y="1850002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74"/>
          <p:cNvSpPr txBox="1"/>
          <p:nvPr>
            <p:ph idx="8" type="subTitle"/>
          </p:nvPr>
        </p:nvSpPr>
        <p:spPr>
          <a:xfrm>
            <a:off x="2042531" y="1375200"/>
            <a:ext cx="240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25" name="Google Shape;125;p74"/>
          <p:cNvSpPr txBox="1"/>
          <p:nvPr>
            <p:ph idx="9" type="subTitle"/>
          </p:nvPr>
        </p:nvSpPr>
        <p:spPr>
          <a:xfrm>
            <a:off x="4701169" y="1850002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74"/>
          <p:cNvSpPr txBox="1"/>
          <p:nvPr>
            <p:ph idx="13" type="subTitle"/>
          </p:nvPr>
        </p:nvSpPr>
        <p:spPr>
          <a:xfrm>
            <a:off x="4701169" y="1375200"/>
            <a:ext cx="240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27" name="Google Shape;127;p74"/>
          <p:cNvSpPr/>
          <p:nvPr/>
        </p:nvSpPr>
        <p:spPr>
          <a:xfrm>
            <a:off x="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74"/>
          <p:cNvGrpSpPr/>
          <p:nvPr/>
        </p:nvGrpSpPr>
        <p:grpSpPr>
          <a:xfrm flipH="1"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129" name="Google Shape;129;p74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74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33" name="Google Shape;133;p75"/>
          <p:cNvSpPr txBox="1"/>
          <p:nvPr>
            <p:ph idx="1" type="subTitle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75"/>
          <p:cNvSpPr txBox="1"/>
          <p:nvPr>
            <p:ph idx="2" type="subTitle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35" name="Google Shape;135;p75"/>
          <p:cNvSpPr txBox="1"/>
          <p:nvPr>
            <p:ph idx="3" type="subTitle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75"/>
          <p:cNvSpPr txBox="1"/>
          <p:nvPr>
            <p:ph idx="4" type="subTitle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37" name="Google Shape;137;p75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5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39" name="Google Shape;139;p75"/>
          <p:cNvSpPr txBox="1"/>
          <p:nvPr>
            <p:ph idx="7" type="subTitle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5"/>
          <p:cNvSpPr txBox="1"/>
          <p:nvPr>
            <p:ph idx="8" type="subTitle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41" name="Google Shape;141;p75"/>
          <p:cNvSpPr txBox="1"/>
          <p:nvPr>
            <p:ph idx="9" type="subTitle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75"/>
          <p:cNvSpPr txBox="1"/>
          <p:nvPr>
            <p:ph idx="13" type="subTitle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43" name="Google Shape;143;p75"/>
          <p:cNvSpPr txBox="1"/>
          <p:nvPr>
            <p:ph idx="14" type="subTitle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75"/>
          <p:cNvSpPr txBox="1"/>
          <p:nvPr>
            <p:ph idx="15" type="subTitle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45" name="Google Shape;145;p75"/>
          <p:cNvSpPr/>
          <p:nvPr/>
        </p:nvSpPr>
        <p:spPr>
          <a:xfrm flipH="1" rot="10800000">
            <a:off x="25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75"/>
          <p:cNvGrpSpPr/>
          <p:nvPr/>
        </p:nvGrpSpPr>
        <p:grpSpPr>
          <a:xfrm flipH="1" rot="10800000">
            <a:off x="141925" y="267450"/>
            <a:ext cx="9001950" cy="4876050"/>
            <a:chOff x="141900" y="-26"/>
            <a:chExt cx="9001950" cy="4876050"/>
          </a:xfrm>
        </p:grpSpPr>
        <p:cxnSp>
          <p:nvCxnSpPr>
            <p:cNvPr id="147" name="Google Shape;147;p75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p75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6"/>
          <p:cNvSpPr txBox="1"/>
          <p:nvPr>
            <p:ph type="title"/>
          </p:nvPr>
        </p:nvSpPr>
        <p:spPr>
          <a:xfrm>
            <a:off x="1864800" y="1219025"/>
            <a:ext cx="54144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51" name="Google Shape;151;p76"/>
          <p:cNvSpPr/>
          <p:nvPr/>
        </p:nvSpPr>
        <p:spPr>
          <a:xfrm flipH="1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76"/>
          <p:cNvGrpSpPr/>
          <p:nvPr/>
        </p:nvGrpSpPr>
        <p:grpSpPr>
          <a:xfrm flipH="1">
            <a:off x="-55200" y="539500"/>
            <a:ext cx="9199200" cy="4604000"/>
            <a:chOff x="-55375" y="539500"/>
            <a:chExt cx="9199200" cy="4604000"/>
          </a:xfrm>
        </p:grpSpPr>
        <p:cxnSp>
          <p:nvCxnSpPr>
            <p:cNvPr id="153" name="Google Shape;153;p76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76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76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7"/>
          <p:cNvSpPr txBox="1"/>
          <p:nvPr>
            <p:ph type="title"/>
          </p:nvPr>
        </p:nvSpPr>
        <p:spPr>
          <a:xfrm>
            <a:off x="783150" y="3920175"/>
            <a:ext cx="757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8" name="Google Shape;158;p77"/>
          <p:cNvSpPr txBox="1"/>
          <p:nvPr>
            <p:ph idx="1" type="subTitle"/>
          </p:nvPr>
        </p:nvSpPr>
        <p:spPr>
          <a:xfrm>
            <a:off x="783150" y="1722374"/>
            <a:ext cx="7577700" cy="21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cxnSp>
        <p:nvCxnSpPr>
          <p:cNvPr id="159" name="Google Shape;159;p77"/>
          <p:cNvCxnSpPr/>
          <p:nvPr/>
        </p:nvCxnSpPr>
        <p:spPr>
          <a:xfrm rot="10800000">
            <a:off x="75" y="4876025"/>
            <a:ext cx="82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78"/>
          <p:cNvSpPr txBox="1"/>
          <p:nvPr>
            <p:ph type="title"/>
          </p:nvPr>
        </p:nvSpPr>
        <p:spPr>
          <a:xfrm>
            <a:off x="713225" y="3946875"/>
            <a:ext cx="7717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9"/>
          <p:cNvSpPr txBox="1"/>
          <p:nvPr>
            <p:ph type="title"/>
          </p:nvPr>
        </p:nvSpPr>
        <p:spPr>
          <a:xfrm>
            <a:off x="713225" y="519075"/>
            <a:ext cx="2789700" cy="19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65" name="Google Shape;165;p79"/>
          <p:cNvSpPr txBox="1"/>
          <p:nvPr>
            <p:ph idx="1" type="subTitle"/>
          </p:nvPr>
        </p:nvSpPr>
        <p:spPr>
          <a:xfrm>
            <a:off x="713225" y="2558881"/>
            <a:ext cx="2789700" cy="13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79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79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79"/>
          <p:cNvGrpSpPr/>
          <p:nvPr/>
        </p:nvGrpSpPr>
        <p:grpSpPr>
          <a:xfrm>
            <a:off x="0" y="-300"/>
            <a:ext cx="3812275" cy="4608875"/>
            <a:chOff x="0" y="-300"/>
            <a:chExt cx="3812275" cy="4608875"/>
          </a:xfrm>
        </p:grpSpPr>
        <p:cxnSp>
          <p:nvCxnSpPr>
            <p:cNvPr id="169" name="Google Shape;169;p79"/>
            <p:cNvCxnSpPr/>
            <p:nvPr/>
          </p:nvCxnSpPr>
          <p:spPr>
            <a:xfrm rot="10800000">
              <a:off x="3812275" y="-300"/>
              <a:ext cx="0" cy="69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79"/>
            <p:cNvCxnSpPr/>
            <p:nvPr/>
          </p:nvCxnSpPr>
          <p:spPr>
            <a:xfrm>
              <a:off x="0" y="4608575"/>
              <a:ext cx="338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0"/>
          <p:cNvSpPr txBox="1"/>
          <p:nvPr>
            <p:ph hasCustomPrompt="1" type="title"/>
          </p:nvPr>
        </p:nvSpPr>
        <p:spPr>
          <a:xfrm>
            <a:off x="1604400" y="1354558"/>
            <a:ext cx="5935200" cy="18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7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173" name="Google Shape;173;p80"/>
          <p:cNvSpPr txBox="1"/>
          <p:nvPr>
            <p:ph idx="1" type="subTitle"/>
          </p:nvPr>
        </p:nvSpPr>
        <p:spPr>
          <a:xfrm>
            <a:off x="1604400" y="3199142"/>
            <a:ext cx="59352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74" name="Google Shape;174;p80"/>
          <p:cNvSpPr/>
          <p:nvPr/>
        </p:nvSpPr>
        <p:spPr>
          <a:xfrm rot="10800000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80"/>
          <p:cNvGrpSpPr/>
          <p:nvPr/>
        </p:nvGrpSpPr>
        <p:grpSpPr>
          <a:xfrm rot="10800000">
            <a:off x="-55325" y="0"/>
            <a:ext cx="9199325" cy="4604000"/>
            <a:chOff x="-55375" y="539500"/>
            <a:chExt cx="9199325" cy="4604000"/>
          </a:xfrm>
        </p:grpSpPr>
        <p:cxnSp>
          <p:nvCxnSpPr>
            <p:cNvPr id="176" name="Google Shape;176;p80"/>
            <p:cNvCxnSpPr/>
            <p:nvPr/>
          </p:nvCxnSpPr>
          <p:spPr>
            <a:xfrm>
              <a:off x="-55375" y="4608575"/>
              <a:ext cx="4563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80"/>
            <p:cNvCxnSpPr/>
            <p:nvPr/>
          </p:nvCxnSpPr>
          <p:spPr>
            <a:xfrm>
              <a:off x="2576350" y="539500"/>
              <a:ext cx="6567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8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_2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1"/>
          <p:cNvSpPr txBox="1"/>
          <p:nvPr>
            <p:ph idx="1" type="subTitle"/>
          </p:nvPr>
        </p:nvSpPr>
        <p:spPr>
          <a:xfrm>
            <a:off x="2370900" y="1278125"/>
            <a:ext cx="440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81"/>
          <p:cNvSpPr txBox="1"/>
          <p:nvPr>
            <p:ph type="title"/>
          </p:nvPr>
        </p:nvSpPr>
        <p:spPr>
          <a:xfrm>
            <a:off x="2370900" y="572825"/>
            <a:ext cx="440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2" name="Google Shape;182;p81"/>
          <p:cNvSpPr txBox="1"/>
          <p:nvPr>
            <p:ph idx="2" type="subTitle"/>
          </p:nvPr>
        </p:nvSpPr>
        <p:spPr>
          <a:xfrm>
            <a:off x="2370900" y="4087875"/>
            <a:ext cx="440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81"/>
          <p:cNvSpPr txBox="1"/>
          <p:nvPr>
            <p:ph idx="3" type="title"/>
          </p:nvPr>
        </p:nvSpPr>
        <p:spPr>
          <a:xfrm>
            <a:off x="2370900" y="3382575"/>
            <a:ext cx="440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4" name="Google Shape;184;p81"/>
          <p:cNvSpPr txBox="1"/>
          <p:nvPr>
            <p:ph idx="4" type="subTitle"/>
          </p:nvPr>
        </p:nvSpPr>
        <p:spPr>
          <a:xfrm>
            <a:off x="2370900" y="2683000"/>
            <a:ext cx="440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81"/>
          <p:cNvSpPr txBox="1"/>
          <p:nvPr>
            <p:ph idx="5" type="title"/>
          </p:nvPr>
        </p:nvSpPr>
        <p:spPr>
          <a:xfrm>
            <a:off x="2370900" y="1977700"/>
            <a:ext cx="440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86" name="Google Shape;186;p81"/>
          <p:cNvGrpSpPr/>
          <p:nvPr/>
        </p:nvGrpSpPr>
        <p:grpSpPr>
          <a:xfrm>
            <a:off x="711250" y="-125"/>
            <a:ext cx="7719525" cy="5143625"/>
            <a:chOff x="711250" y="-125"/>
            <a:chExt cx="7719525" cy="5143625"/>
          </a:xfrm>
        </p:grpSpPr>
        <p:cxnSp>
          <p:nvCxnSpPr>
            <p:cNvPr id="187" name="Google Shape;187;p81"/>
            <p:cNvCxnSpPr/>
            <p:nvPr/>
          </p:nvCxnSpPr>
          <p:spPr>
            <a:xfrm rot="10800000">
              <a:off x="711250" y="2191500"/>
              <a:ext cx="0" cy="295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81"/>
            <p:cNvCxnSpPr/>
            <p:nvPr/>
          </p:nvCxnSpPr>
          <p:spPr>
            <a:xfrm rot="10800000">
              <a:off x="8430775" y="-125"/>
              <a:ext cx="0" cy="2191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2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91" name="Google Shape;191;p82"/>
          <p:cNvSpPr txBox="1"/>
          <p:nvPr>
            <p:ph idx="1" type="subTitle"/>
          </p:nvPr>
        </p:nvSpPr>
        <p:spPr>
          <a:xfrm>
            <a:off x="713225" y="3582477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82"/>
          <p:cNvSpPr txBox="1"/>
          <p:nvPr>
            <p:ph idx="2" type="title"/>
          </p:nvPr>
        </p:nvSpPr>
        <p:spPr>
          <a:xfrm>
            <a:off x="713225" y="1575103"/>
            <a:ext cx="2400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3" name="Google Shape;193;p82"/>
          <p:cNvSpPr txBox="1"/>
          <p:nvPr>
            <p:ph idx="3" type="subTitle"/>
          </p:nvPr>
        </p:nvSpPr>
        <p:spPr>
          <a:xfrm>
            <a:off x="713225" y="2654575"/>
            <a:ext cx="2400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94" name="Google Shape;194;p82"/>
          <p:cNvSpPr txBox="1"/>
          <p:nvPr>
            <p:ph idx="4" type="subTitle"/>
          </p:nvPr>
        </p:nvSpPr>
        <p:spPr>
          <a:xfrm>
            <a:off x="6030475" y="3582477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82"/>
          <p:cNvSpPr txBox="1"/>
          <p:nvPr>
            <p:ph idx="5" type="title"/>
          </p:nvPr>
        </p:nvSpPr>
        <p:spPr>
          <a:xfrm>
            <a:off x="6030475" y="1575103"/>
            <a:ext cx="2400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6" name="Google Shape;196;p82"/>
          <p:cNvSpPr txBox="1"/>
          <p:nvPr>
            <p:ph idx="6" type="subTitle"/>
          </p:nvPr>
        </p:nvSpPr>
        <p:spPr>
          <a:xfrm>
            <a:off x="6030475" y="2654575"/>
            <a:ext cx="2400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97" name="Google Shape;197;p82"/>
          <p:cNvSpPr txBox="1"/>
          <p:nvPr>
            <p:ph idx="7" type="subTitle"/>
          </p:nvPr>
        </p:nvSpPr>
        <p:spPr>
          <a:xfrm>
            <a:off x="3371850" y="3582477"/>
            <a:ext cx="2400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82"/>
          <p:cNvSpPr txBox="1"/>
          <p:nvPr>
            <p:ph idx="8" type="title"/>
          </p:nvPr>
        </p:nvSpPr>
        <p:spPr>
          <a:xfrm>
            <a:off x="3371850" y="1575103"/>
            <a:ext cx="2400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9" name="Google Shape;199;p82"/>
          <p:cNvSpPr txBox="1"/>
          <p:nvPr>
            <p:ph idx="9" type="subTitle"/>
          </p:nvPr>
        </p:nvSpPr>
        <p:spPr>
          <a:xfrm>
            <a:off x="3371850" y="2654575"/>
            <a:ext cx="2400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cxnSp>
        <p:nvCxnSpPr>
          <p:cNvPr id="200" name="Google Shape;200;p82"/>
          <p:cNvCxnSpPr/>
          <p:nvPr/>
        </p:nvCxnSpPr>
        <p:spPr>
          <a:xfrm rot="10800000">
            <a:off x="5035800" y="4797575"/>
            <a:ext cx="410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_1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3"/>
          <p:cNvSpPr txBox="1"/>
          <p:nvPr>
            <p:ph type="title"/>
          </p:nvPr>
        </p:nvSpPr>
        <p:spPr>
          <a:xfrm>
            <a:off x="1262175" y="1023602"/>
            <a:ext cx="2890500" cy="167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03" name="Google Shape;203;p83"/>
          <p:cNvSpPr txBox="1"/>
          <p:nvPr>
            <p:ph idx="1" type="subTitle"/>
          </p:nvPr>
        </p:nvSpPr>
        <p:spPr>
          <a:xfrm>
            <a:off x="1262175" y="2702272"/>
            <a:ext cx="28905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83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83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06" name="Google Shape;206;p83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83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_1_1_1_1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4"/>
          <p:cNvSpPr txBox="1"/>
          <p:nvPr>
            <p:ph type="title"/>
          </p:nvPr>
        </p:nvSpPr>
        <p:spPr>
          <a:xfrm>
            <a:off x="4746800" y="1023600"/>
            <a:ext cx="2630100" cy="15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10" name="Google Shape;210;p84"/>
          <p:cNvSpPr txBox="1"/>
          <p:nvPr>
            <p:ph idx="1" type="subTitle"/>
          </p:nvPr>
        </p:nvSpPr>
        <p:spPr>
          <a:xfrm>
            <a:off x="4746800" y="2545055"/>
            <a:ext cx="2630100" cy="1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1" name="Google Shape;211;p84"/>
          <p:cNvGrpSpPr/>
          <p:nvPr/>
        </p:nvGrpSpPr>
        <p:grpSpPr>
          <a:xfrm flipH="1">
            <a:off x="0" y="0"/>
            <a:ext cx="9144075" cy="5143500"/>
            <a:chOff x="0" y="0"/>
            <a:chExt cx="9144075" cy="5143500"/>
          </a:xfrm>
        </p:grpSpPr>
        <p:grpSp>
          <p:nvGrpSpPr>
            <p:cNvPr id="212" name="Google Shape;212;p84"/>
            <p:cNvGrpSpPr/>
            <p:nvPr/>
          </p:nvGrpSpPr>
          <p:grpSpPr>
            <a:xfrm>
              <a:off x="0" y="0"/>
              <a:ext cx="9144075" cy="5143500"/>
              <a:chOff x="0" y="0"/>
              <a:chExt cx="9144075" cy="5143500"/>
            </a:xfrm>
          </p:grpSpPr>
          <p:sp>
            <p:nvSpPr>
              <p:cNvPr id="213" name="Google Shape;213;p84"/>
              <p:cNvSpPr/>
              <p:nvPr/>
            </p:nvSpPr>
            <p:spPr>
              <a:xfrm>
                <a:off x="4185975" y="4608575"/>
                <a:ext cx="4958100" cy="529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84"/>
              <p:cNvSpPr/>
              <p:nvPr/>
            </p:nvSpPr>
            <p:spPr>
              <a:xfrm>
                <a:off x="0" y="0"/>
                <a:ext cx="8529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p84"/>
            <p:cNvGrpSpPr/>
            <p:nvPr/>
          </p:nvGrpSpPr>
          <p:grpSpPr>
            <a:xfrm>
              <a:off x="150" y="539500"/>
              <a:ext cx="8430625" cy="4604000"/>
              <a:chOff x="150" y="539500"/>
              <a:chExt cx="8430625" cy="4604000"/>
            </a:xfrm>
          </p:grpSpPr>
          <p:cxnSp>
            <p:nvCxnSpPr>
              <p:cNvPr id="216" name="Google Shape;216;p84"/>
              <p:cNvCxnSpPr/>
              <p:nvPr/>
            </p:nvCxnSpPr>
            <p:spPr>
              <a:xfrm rot="10800000">
                <a:off x="8430775" y="805200"/>
                <a:ext cx="0" cy="43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7" name="Google Shape;217;p84"/>
              <p:cNvCxnSpPr/>
              <p:nvPr/>
            </p:nvCxnSpPr>
            <p:spPr>
              <a:xfrm rot="10800000">
                <a:off x="150" y="539500"/>
                <a:ext cx="433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cxnSp>
        <p:nvCxnSpPr>
          <p:cNvPr id="220" name="Google Shape;220;p85"/>
          <p:cNvCxnSpPr/>
          <p:nvPr/>
        </p:nvCxnSpPr>
        <p:spPr>
          <a:xfrm>
            <a:off x="0" y="262400"/>
            <a:ext cx="228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6"/>
          <p:cNvSpPr txBox="1"/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23" name="Google Shape;223;p86"/>
          <p:cNvSpPr txBox="1"/>
          <p:nvPr>
            <p:ph idx="1" type="subTitle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86"/>
          <p:cNvSpPr/>
          <p:nvPr/>
        </p:nvSpPr>
        <p:spPr>
          <a:xfrm flipH="1" rot="10800000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86"/>
          <p:cNvGrpSpPr/>
          <p:nvPr/>
        </p:nvGrpSpPr>
        <p:grpSpPr>
          <a:xfrm flipH="1" rot="10800000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226" name="Google Shape;226;p86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" name="Google Shape;227;p86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8" name="Google Shape;228;p86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7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31" name="Google Shape;231;p87"/>
          <p:cNvSpPr txBox="1"/>
          <p:nvPr>
            <p:ph idx="1" type="subTitle"/>
          </p:nvPr>
        </p:nvSpPr>
        <p:spPr>
          <a:xfrm>
            <a:off x="865625" y="3694227"/>
            <a:ext cx="2262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87"/>
          <p:cNvSpPr txBox="1"/>
          <p:nvPr>
            <p:ph idx="2" type="subTitle"/>
          </p:nvPr>
        </p:nvSpPr>
        <p:spPr>
          <a:xfrm>
            <a:off x="865625" y="3103975"/>
            <a:ext cx="22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3" name="Google Shape;233;p87"/>
          <p:cNvSpPr txBox="1"/>
          <p:nvPr>
            <p:ph idx="3" type="subTitle"/>
          </p:nvPr>
        </p:nvSpPr>
        <p:spPr>
          <a:xfrm>
            <a:off x="6015775" y="3694227"/>
            <a:ext cx="2262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87"/>
          <p:cNvSpPr txBox="1"/>
          <p:nvPr>
            <p:ph idx="4" type="subTitle"/>
          </p:nvPr>
        </p:nvSpPr>
        <p:spPr>
          <a:xfrm>
            <a:off x="6015775" y="3103975"/>
            <a:ext cx="22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5" name="Google Shape;235;p87"/>
          <p:cNvSpPr txBox="1"/>
          <p:nvPr>
            <p:ph idx="5" type="subTitle"/>
          </p:nvPr>
        </p:nvSpPr>
        <p:spPr>
          <a:xfrm>
            <a:off x="3440700" y="3694227"/>
            <a:ext cx="2262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87"/>
          <p:cNvSpPr txBox="1"/>
          <p:nvPr>
            <p:ph idx="6" type="subTitle"/>
          </p:nvPr>
        </p:nvSpPr>
        <p:spPr>
          <a:xfrm>
            <a:off x="3440700" y="3103975"/>
            <a:ext cx="22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7" name="Google Shape;237;p87"/>
          <p:cNvSpPr/>
          <p:nvPr/>
        </p:nvSpPr>
        <p:spPr>
          <a:xfrm>
            <a:off x="0" y="4876025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p87"/>
          <p:cNvGrpSpPr/>
          <p:nvPr/>
        </p:nvGrpSpPr>
        <p:grpSpPr>
          <a:xfrm>
            <a:off x="283800" y="-48"/>
            <a:ext cx="8860200" cy="5009873"/>
            <a:chOff x="283800" y="-48"/>
            <a:chExt cx="8860200" cy="5009873"/>
          </a:xfrm>
        </p:grpSpPr>
        <p:cxnSp>
          <p:nvCxnSpPr>
            <p:cNvPr id="239" name="Google Shape;239;p87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0" name="Google Shape;240;p87"/>
            <p:cNvCxnSpPr/>
            <p:nvPr/>
          </p:nvCxnSpPr>
          <p:spPr>
            <a:xfrm rot="10800000">
              <a:off x="283800" y="-48"/>
              <a:ext cx="0" cy="291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8"/>
          <p:cNvSpPr txBox="1"/>
          <p:nvPr>
            <p:ph type="title"/>
          </p:nvPr>
        </p:nvSpPr>
        <p:spPr>
          <a:xfrm>
            <a:off x="2654700" y="530250"/>
            <a:ext cx="3834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43" name="Google Shape;243;p88"/>
          <p:cNvSpPr txBox="1"/>
          <p:nvPr>
            <p:ph idx="1" type="subTitle"/>
          </p:nvPr>
        </p:nvSpPr>
        <p:spPr>
          <a:xfrm>
            <a:off x="2654700" y="2342156"/>
            <a:ext cx="3834600" cy="9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55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9pPr>
          </a:lstStyle>
          <a:p/>
        </p:txBody>
      </p:sp>
      <p:sp>
        <p:nvSpPr>
          <p:cNvPr id="244" name="Google Shape;244;p88"/>
          <p:cNvSpPr txBox="1"/>
          <p:nvPr>
            <p:ph idx="2" type="subTitle"/>
          </p:nvPr>
        </p:nvSpPr>
        <p:spPr>
          <a:xfrm>
            <a:off x="2654700" y="4111851"/>
            <a:ext cx="383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grpSp>
        <p:nvGrpSpPr>
          <p:cNvPr id="245" name="Google Shape;245;p88"/>
          <p:cNvGrpSpPr/>
          <p:nvPr/>
        </p:nvGrpSpPr>
        <p:grpSpPr>
          <a:xfrm>
            <a:off x="713688" y="2579400"/>
            <a:ext cx="8430487" cy="2564100"/>
            <a:chOff x="713688" y="2579400"/>
            <a:chExt cx="8430487" cy="2564100"/>
          </a:xfrm>
        </p:grpSpPr>
        <p:cxnSp>
          <p:nvCxnSpPr>
            <p:cNvPr id="246" name="Google Shape;246;p88"/>
            <p:cNvCxnSpPr/>
            <p:nvPr/>
          </p:nvCxnSpPr>
          <p:spPr>
            <a:xfrm>
              <a:off x="2839075" y="4876025"/>
              <a:ext cx="6305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88"/>
            <p:cNvCxnSpPr/>
            <p:nvPr/>
          </p:nvCxnSpPr>
          <p:spPr>
            <a:xfrm rot="10800000">
              <a:off x="713688" y="2579400"/>
              <a:ext cx="0" cy="256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8" name="Google Shape;248;p88"/>
          <p:cNvSpPr txBox="1"/>
          <p:nvPr/>
        </p:nvSpPr>
        <p:spPr>
          <a:xfrm>
            <a:off x="2654700" y="3304597"/>
            <a:ext cx="3834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 This presentation template was created by </a:t>
            </a:r>
            <a:r>
              <a:rPr b="1" i="0" lang="en" sz="1200" u="sng" cap="none" strike="noStrik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includes icons,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i="0" sz="1200" u="none" cap="none" strike="noStrike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51" name="Google Shape;251;p89"/>
          <p:cNvSpPr txBox="1"/>
          <p:nvPr>
            <p:ph idx="1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89"/>
          <p:cNvSpPr/>
          <p:nvPr/>
        </p:nvSpPr>
        <p:spPr>
          <a:xfrm flipH="1">
            <a:off x="0" y="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" name="Google Shape;253;p89"/>
          <p:cNvGrpSpPr/>
          <p:nvPr/>
        </p:nvGrpSpPr>
        <p:grpSpPr>
          <a:xfrm>
            <a:off x="150" y="0"/>
            <a:ext cx="8860050" cy="4876025"/>
            <a:chOff x="150" y="0"/>
            <a:chExt cx="8860050" cy="4876025"/>
          </a:xfrm>
        </p:grpSpPr>
        <p:cxnSp>
          <p:nvCxnSpPr>
            <p:cNvPr id="254" name="Google Shape;254;p89"/>
            <p:cNvCxnSpPr/>
            <p:nvPr/>
          </p:nvCxnSpPr>
          <p:spPr>
            <a:xfrm>
              <a:off x="8860200" y="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5" name="Google Shape;255;p89"/>
            <p:cNvCxnSpPr/>
            <p:nvPr/>
          </p:nvCxnSpPr>
          <p:spPr>
            <a:xfrm rot="10800000">
              <a:off x="150" y="4876025"/>
              <a:ext cx="8444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58" name="Google Shape;258;p90"/>
          <p:cNvSpPr txBox="1"/>
          <p:nvPr>
            <p:ph idx="1" type="body"/>
          </p:nvPr>
        </p:nvSpPr>
        <p:spPr>
          <a:xfrm>
            <a:off x="713225" y="1682875"/>
            <a:ext cx="3780900" cy="27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259" name="Google Shape;259;p90"/>
          <p:cNvSpPr txBox="1"/>
          <p:nvPr>
            <p:ph idx="2" type="body"/>
          </p:nvPr>
        </p:nvSpPr>
        <p:spPr>
          <a:xfrm>
            <a:off x="4651325" y="1682875"/>
            <a:ext cx="3780900" cy="27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260" name="Google Shape;260;p90"/>
          <p:cNvSpPr txBox="1"/>
          <p:nvPr>
            <p:ph idx="3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90"/>
          <p:cNvSpPr/>
          <p:nvPr/>
        </p:nvSpPr>
        <p:spPr>
          <a:xfrm flipH="1">
            <a:off x="71340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" name="Google Shape;262;p90"/>
          <p:cNvGrpSpPr/>
          <p:nvPr/>
        </p:nvGrpSpPr>
        <p:grpSpPr>
          <a:xfrm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63" name="Google Shape;263;p90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4" name="Google Shape;264;p90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7" name="Google Shape;267;p97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97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97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97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8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" name="Google Shape;273;p98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4" name="Google Shape;274;p98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5" name="Google Shape;275;p98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b="0" i="0" sz="31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b="0" i="0" sz="31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b="0" i="0" sz="31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b="0" i="0" sz="31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b="0" i="0" sz="31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b="0" i="0" sz="31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b="0" i="0" sz="31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b="0" i="0" sz="31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b="0" i="0" sz="31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7" name="Google Shape;7;p59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 b="0" i="0" sz="1400" u="none" cap="none" strike="noStrik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 b="0" i="0" sz="1400" u="none" cap="none" strike="noStrik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 b="0" i="0" sz="1400" u="none" cap="none" strike="noStrik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 b="0" i="0" sz="1400" u="none" cap="none" strike="noStrik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 b="0" i="0" sz="1400" u="none" cap="none" strike="noStrik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 b="0" i="0" sz="1400" u="none" cap="none" strike="noStrik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 b="0" i="0" sz="1400" u="none" cap="none" strike="noStrik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 b="0" i="0" sz="1400" u="none" cap="none" strike="noStrik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 b="0" i="0" sz="1400" u="none" cap="none" strike="noStrik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"/>
          <p:cNvSpPr txBox="1"/>
          <p:nvPr>
            <p:ph type="ctrTitle"/>
          </p:nvPr>
        </p:nvSpPr>
        <p:spPr>
          <a:xfrm>
            <a:off x="713225" y="1014550"/>
            <a:ext cx="6359186" cy="221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</a:pPr>
            <a:r>
              <a:rPr b="1" lang="en" sz="4800"/>
              <a:t>Machine Learning 2 -</a:t>
            </a:r>
            <a:r>
              <a:rPr b="1" lang="en" sz="4500"/>
              <a:t> </a:t>
            </a:r>
            <a:br>
              <a:rPr lang="en" sz="4500"/>
            </a:br>
            <a:r>
              <a:rPr lang="en" sz="4000">
                <a:solidFill>
                  <a:schemeClr val="accent2"/>
                </a:solidFill>
              </a:rPr>
              <a:t>Housing Price &amp;</a:t>
            </a:r>
            <a:br>
              <a:rPr lang="en" sz="4000"/>
            </a:br>
            <a:r>
              <a:rPr lang="en" sz="4000">
                <a:solidFill>
                  <a:schemeClr val="accent2"/>
                </a:solidFill>
              </a:rPr>
              <a:t>Drinking Behaviour</a:t>
            </a:r>
            <a:endParaRPr sz="4000"/>
          </a:p>
        </p:txBody>
      </p:sp>
      <p:sp>
        <p:nvSpPr>
          <p:cNvPr id="281" name="Google Shape;281;p1"/>
          <p:cNvSpPr txBox="1"/>
          <p:nvPr>
            <p:ph idx="1" type="subTitle"/>
          </p:nvPr>
        </p:nvSpPr>
        <p:spPr>
          <a:xfrm>
            <a:off x="713225" y="3790575"/>
            <a:ext cx="56022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50"/>
              <a:buNone/>
            </a:pPr>
            <a:r>
              <a:rPr lang="en"/>
              <a:t>Zahra Eshtiaghi (476679)</a:t>
            </a:r>
            <a:endParaRPr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50"/>
              <a:buNone/>
            </a:pPr>
            <a:r>
              <a:rPr lang="en"/>
              <a:t>Tsoi Kwan Ma (476914)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"/>
          <p:cNvSpPr txBox="1"/>
          <p:nvPr/>
        </p:nvSpPr>
        <p:spPr>
          <a:xfrm>
            <a:off x="899575" y="-1"/>
            <a:ext cx="505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House Prices Regression</a:t>
            </a:r>
            <a:r>
              <a:rPr b="1" lang="en" sz="1800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lang="en" sz="1800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(</a:t>
            </a:r>
            <a:r>
              <a:rPr b="1" i="0" lang="en" sz="18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Problem &amp; Data)</a:t>
            </a:r>
            <a:endParaRPr b="1" i="0" sz="18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87" name="Google Shape;287;p4"/>
          <p:cNvSpPr/>
          <p:nvPr/>
        </p:nvSpPr>
        <p:spPr>
          <a:xfrm>
            <a:off x="899575" y="2048250"/>
            <a:ext cx="3576000" cy="1651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1176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Dataset snapshot</a:t>
            </a:r>
            <a:r>
              <a:rPr b="1" i="0" lang="en" sz="1100" u="none" cap="none" strike="noStrike">
                <a:solidFill>
                  <a:srgbClr val="000000"/>
                </a:solidFill>
                <a:latin typeface="Commissioner"/>
                <a:ea typeface="Commissioner"/>
                <a:cs typeface="Commissioner"/>
                <a:sym typeface="Commissioner"/>
              </a:rPr>
              <a:t>:</a:t>
            </a:r>
            <a:endParaRPr b="1" i="0" sz="1100" u="none" cap="none" strike="noStrike">
              <a:solidFill>
                <a:srgbClr val="1F2937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• </a:t>
            </a:r>
            <a:r>
              <a:rPr lang="en" sz="11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train.csv: </a:t>
            </a:r>
            <a:r>
              <a:rPr i="0" lang="en" sz="11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146</a:t>
            </a:r>
            <a:r>
              <a:rPr lang="en" sz="11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0 rows × 81 columns (includes target SalePrice)</a:t>
            </a:r>
            <a:endParaRPr sz="1100">
              <a:solidFill>
                <a:srgbClr val="1F2937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• </a:t>
            </a:r>
            <a:r>
              <a:rPr lang="en" sz="11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test.csv:</a:t>
            </a:r>
            <a:r>
              <a:rPr i="0" lang="en" sz="11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  1459 ro</a:t>
            </a:r>
            <a:r>
              <a:rPr lang="en" sz="11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ws </a:t>
            </a:r>
            <a:r>
              <a:rPr lang="en" sz="11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× 80 columns (no SalePrice)</a:t>
            </a:r>
            <a:endParaRPr sz="1100">
              <a:solidFill>
                <a:srgbClr val="1F2937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• Explanatory variables: 79</a:t>
            </a:r>
            <a:endParaRPr i="0" sz="11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• Mix of numeric + categorical features</a:t>
            </a:r>
            <a:endParaRPr i="0" sz="11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• </a:t>
            </a:r>
            <a:r>
              <a:rPr lang="en" sz="1000">
                <a:solidFill>
                  <a:schemeClr val="dk1"/>
                </a:solidFill>
              </a:rPr>
              <a:t>Train/Validation split used in the notebooks (80/20):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- X_train: 1168 × 80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- X_val  :  292 × 80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288" name="Google Shape;288;p4"/>
          <p:cNvSpPr/>
          <p:nvPr/>
        </p:nvSpPr>
        <p:spPr>
          <a:xfrm>
            <a:off x="899582" y="622341"/>
            <a:ext cx="3874549" cy="1394131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1176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Goal</a:t>
            </a:r>
            <a:endParaRPr b="1"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Predict each home's SalePrice from house attributes.</a:t>
            </a:r>
            <a:endParaRPr i="0" sz="14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I train on labeled homes and generate predictions for the Kaggle test set.</a:t>
            </a:r>
            <a:endParaRPr i="0" sz="14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289" name="Google Shape;289;p4"/>
          <p:cNvSpPr/>
          <p:nvPr/>
        </p:nvSpPr>
        <p:spPr>
          <a:xfrm>
            <a:off x="904400" y="3699499"/>
            <a:ext cx="7502100" cy="139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Evaluation metric </a:t>
            </a:r>
            <a:endParaRPr b="1" i="0" sz="14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RMSE on log(SalePrice) → “log-RMSE / RMSLE-style”.</a:t>
            </a:r>
            <a:endParaRPr i="0" sz="14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Why: </a:t>
            </a:r>
            <a:r>
              <a:rPr i="0" lang="en" sz="14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house prices are skewed; log makes errors more relative than absolute.</a:t>
            </a:r>
            <a:endParaRPr i="0" sz="14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290" name="Google Shape;290;p4"/>
          <p:cNvSpPr/>
          <p:nvPr/>
        </p:nvSpPr>
        <p:spPr>
          <a:xfrm>
            <a:off x="1135781" y="4507409"/>
            <a:ext cx="2406316" cy="369332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 model in log-space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"/>
          <p:cNvSpPr/>
          <p:nvPr/>
        </p:nvSpPr>
        <p:spPr>
          <a:xfrm>
            <a:off x="3773483" y="4419541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...then convert back for final submission.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house_night.jpg" id="292" name="Google Shape;2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2065" y="49884"/>
            <a:ext cx="2454442" cy="2805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"/>
          <p:cNvSpPr/>
          <p:nvPr/>
        </p:nvSpPr>
        <p:spPr>
          <a:xfrm>
            <a:off x="1" y="0"/>
            <a:ext cx="9143771" cy="44577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240030" y="82296"/>
            <a:ext cx="870966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Workflow Overview</a:t>
            </a:r>
            <a:endParaRPr b="1" i="0" sz="15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240030" y="288036"/>
            <a:ext cx="87096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6B7280"/>
                </a:solidFill>
                <a:latin typeface="Commissioner"/>
                <a:ea typeface="Commissioner"/>
                <a:cs typeface="Commissioner"/>
                <a:sym typeface="Commissioner"/>
              </a:rPr>
              <a:t>How the work is split across 3 notebooks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480060" y="857250"/>
            <a:ext cx="2592324" cy="14058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651510" y="1028700"/>
            <a:ext cx="342900" cy="3429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"/>
          <p:cNvSpPr/>
          <p:nvPr/>
        </p:nvSpPr>
        <p:spPr>
          <a:xfrm>
            <a:off x="1062990" y="1021842"/>
            <a:ext cx="1837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1) Preprocessing</a:t>
            </a:r>
            <a:endParaRPr b="1" i="0" sz="1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651510" y="1419606"/>
            <a:ext cx="2249424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mmissioner"/>
              <a:buChar char="•"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Missing values + types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mmissioner"/>
              <a:buChar char="•"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Skewness handling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mmissioner"/>
              <a:buChar char="•"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Encoding + scaling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mmissioner"/>
              <a:buChar char="•"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Save prepared_data.pkl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05" name="Google Shape;305;p5"/>
          <p:cNvSpPr/>
          <p:nvPr/>
        </p:nvSpPr>
        <p:spPr>
          <a:xfrm>
            <a:off x="3429000" y="857250"/>
            <a:ext cx="2592324" cy="14058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"/>
          <p:cNvSpPr/>
          <p:nvPr/>
        </p:nvSpPr>
        <p:spPr>
          <a:xfrm>
            <a:off x="3600450" y="1028700"/>
            <a:ext cx="342900" cy="342900"/>
          </a:xfrm>
          <a:prstGeom prst="roundRect">
            <a:avLst>
              <a:gd fmla="val 16667" name="adj"/>
            </a:avLst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5"/>
          <p:cNvSpPr/>
          <p:nvPr/>
        </p:nvSpPr>
        <p:spPr>
          <a:xfrm>
            <a:off x="4011924" y="1021850"/>
            <a:ext cx="207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2) Feature engineering</a:t>
            </a:r>
            <a:endParaRPr b="1" i="0" sz="1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08" name="Google Shape;308;p5"/>
          <p:cNvSpPr/>
          <p:nvPr/>
        </p:nvSpPr>
        <p:spPr>
          <a:xfrm>
            <a:off x="3600450" y="1419606"/>
            <a:ext cx="2249424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mmissioner"/>
              <a:buChar char="•"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Correlation checks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mmissioner"/>
              <a:buChar char="•"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Fix encoding issues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mmissioner"/>
              <a:buChar char="•"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Create new features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mmissioner"/>
              <a:buChar char="•"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Save engineered dataset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6377940" y="857250"/>
            <a:ext cx="2592324" cy="14058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"/>
          <p:cNvSpPr/>
          <p:nvPr/>
        </p:nvSpPr>
        <p:spPr>
          <a:xfrm>
            <a:off x="6549390" y="1028700"/>
            <a:ext cx="342900" cy="34290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"/>
          <p:cNvSpPr/>
          <p:nvPr/>
        </p:nvSpPr>
        <p:spPr>
          <a:xfrm>
            <a:off x="6960870" y="1021842"/>
            <a:ext cx="1837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3) Modeling</a:t>
            </a:r>
            <a:endParaRPr b="1" i="0" sz="1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6549390" y="1419606"/>
            <a:ext cx="2249424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mmissioner"/>
              <a:buChar char="•"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LASSO feature selection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mmissioner"/>
              <a:buChar char="•"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Train (XGB/LGBM/Cat/RF/</a:t>
            </a:r>
            <a:r>
              <a:rPr lang="en" sz="9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Ensemble</a:t>
            </a: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)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mmissioner"/>
              <a:buChar char="•"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Compare + validate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mmissioner"/>
              <a:buChar char="•"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Create submission file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13" name="Google Shape;313;p5"/>
          <p:cNvSpPr/>
          <p:nvPr/>
        </p:nvSpPr>
        <p:spPr>
          <a:xfrm>
            <a:off x="3140964" y="1440180"/>
            <a:ext cx="240030" cy="2400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6089904" y="1440180"/>
            <a:ext cx="240030" cy="2400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"/>
          <p:cNvSpPr/>
          <p:nvPr/>
        </p:nvSpPr>
        <p:spPr>
          <a:xfrm>
            <a:off x="651510" y="3072384"/>
            <a:ext cx="2351572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"/>
          <p:cNvSpPr/>
          <p:nvPr/>
        </p:nvSpPr>
        <p:spPr>
          <a:xfrm>
            <a:off x="102871" y="4910328"/>
            <a:ext cx="9040901" cy="2331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"/>
          <p:cNvSpPr/>
          <p:nvPr/>
        </p:nvSpPr>
        <p:spPr>
          <a:xfrm>
            <a:off x="240030" y="4951476"/>
            <a:ext cx="877824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Notebooks: 1- regression.ipynb • 2- regression.ipynb • 3-regressionC.ipynb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"/>
          <p:cNvSpPr/>
          <p:nvPr/>
        </p:nvSpPr>
        <p:spPr>
          <a:xfrm>
            <a:off x="217055" y="2366010"/>
            <a:ext cx="3163939" cy="241401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Top numeric predictors (corr with log SalePrice)</a:t>
            </a:r>
            <a:endParaRPr b="1" i="0" sz="105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descr="A blue and white rectangular object&#10;&#10;AI-generated content may be incorrect." id="319" name="Google Shape;3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678" y="2981325"/>
            <a:ext cx="2932159" cy="145516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5"/>
          <p:cNvSpPr/>
          <p:nvPr/>
        </p:nvSpPr>
        <p:spPr>
          <a:xfrm>
            <a:off x="3429001" y="2366010"/>
            <a:ext cx="3327934" cy="2455163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5"/>
          <p:cNvSpPr txBox="1"/>
          <p:nvPr/>
        </p:nvSpPr>
        <p:spPr>
          <a:xfrm>
            <a:off x="3479050" y="2483912"/>
            <a:ext cx="34818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Engineered features (examples)</a:t>
            </a:r>
            <a:endParaRPr b="1" i="0" sz="11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1F2937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I added 12 engineered features (age, totals, interactions, ratios).</a:t>
            </a:r>
            <a:endParaRPr i="0" sz="11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A few of the strongest new features by |correlation|:</a:t>
            </a:r>
            <a:endParaRPr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1F2937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HouseAge  (|r|≈0.421)</a:t>
            </a:r>
            <a:endParaRPr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RemodAge  (|r|≈0.420)</a:t>
            </a:r>
            <a:endParaRPr i="0" sz="11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GarageAge  (|r|≈0.269)</a:t>
            </a:r>
            <a:endParaRPr i="0" sz="11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TotalPorch  (|r|≈0.202)</a:t>
            </a:r>
            <a:endParaRPr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 u="none" cap="none" strike="noStrike">
                <a:solidFill>
                  <a:srgbClr val="6B7280"/>
                </a:solidFill>
                <a:latin typeface="Commissioner"/>
                <a:ea typeface="Commissioner"/>
                <a:cs typeface="Commissioner"/>
                <a:sym typeface="Commissioner"/>
              </a:rPr>
              <a:t>Result: richer signals before modeling.</a:t>
            </a:r>
            <a:endParaRPr i="0" sz="11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22" name="Google Shape;322;p5"/>
          <p:cNvSpPr/>
          <p:nvPr/>
        </p:nvSpPr>
        <p:spPr>
          <a:xfrm>
            <a:off x="6804943" y="2736342"/>
            <a:ext cx="2338830" cy="171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Sanity checks (example)</a:t>
            </a:r>
            <a:endParaRPr b="1"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CentralAir initially showed a negative correlation.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I checked value counts + mean price by category,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then flipped the encoding so “1 = has AC”.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After the fix, correlation became positive (as expected).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"/>
          <p:cNvSpPr/>
          <p:nvPr/>
        </p:nvSpPr>
        <p:spPr>
          <a:xfrm>
            <a:off x="1" y="0"/>
            <a:ext cx="9143771" cy="44577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240030" y="82296"/>
            <a:ext cx="870966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Modeling Results</a:t>
            </a:r>
            <a:endParaRPr b="1" i="0" sz="15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240030" y="288036"/>
            <a:ext cx="87096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6B7280"/>
                </a:solidFill>
                <a:latin typeface="Commissioner"/>
                <a:ea typeface="Commissioner"/>
                <a:cs typeface="Commissioner"/>
                <a:sym typeface="Commissioner"/>
              </a:rPr>
              <a:t>LASSO feature selection + boosting models</a:t>
            </a:r>
            <a:endParaRPr i="0" sz="9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411480" y="720090"/>
            <a:ext cx="4183380" cy="408051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617220" y="857250"/>
            <a:ext cx="3840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Modeling approach (Notebook 3)</a:t>
            </a:r>
            <a:endParaRPr b="1" i="0" sz="105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651510" y="1234440"/>
            <a:ext cx="3703320" cy="507492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788670" y="1344168"/>
            <a:ext cx="34290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75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Prepared + engineered features</a:t>
            </a:r>
            <a:endParaRPr i="0" sz="975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2400300" y="1755648"/>
            <a:ext cx="205740" cy="19202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651510" y="2002536"/>
            <a:ext cx="3703320" cy="507492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788670" y="2112264"/>
            <a:ext cx="34290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75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LASSO feature selection</a:t>
            </a:r>
            <a:endParaRPr b="1" i="0" sz="975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2400300" y="2523744"/>
            <a:ext cx="205740" cy="19202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651510" y="2770632"/>
            <a:ext cx="3703320" cy="507492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80" u="none" cap="none" strike="noStrike">
                <a:solidFill>
                  <a:srgbClr val="000000"/>
                </a:solidFill>
                <a:latin typeface="Commissioner"/>
                <a:ea typeface="Commissioner"/>
                <a:cs typeface="Commissioner"/>
                <a:sym typeface="Commissioner"/>
              </a:rPr>
              <a:t>Training five models: XGBoost, LightGBM, CatBoost, RandomForest, Ensemblig Avg3boosting models </a:t>
            </a:r>
            <a:endParaRPr b="1"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788670" y="2880360"/>
            <a:ext cx="34290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975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2400300" y="3291840"/>
            <a:ext cx="205740" cy="19202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651510" y="3538728"/>
            <a:ext cx="3703320" cy="507492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788670" y="3648456"/>
            <a:ext cx="34290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75" u="none" cap="none" strike="noStrike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Predict log(SalePrice) → XGBosst </a:t>
            </a:r>
            <a:endParaRPr i="0" sz="975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651510" y="4169664"/>
            <a:ext cx="37033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Best tuned CV log-RMSE: 0.1243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4834890" y="720090"/>
            <a:ext cx="4149090" cy="408051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5040630" y="857250"/>
            <a:ext cx="3771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Residual plots (OOF 5-Fold)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graphicFrame>
        <p:nvGraphicFramePr>
          <p:cNvPr id="347" name="Google Shape;347;p6"/>
          <p:cNvGraphicFramePr/>
          <p:nvPr/>
        </p:nvGraphicFramePr>
        <p:xfrm>
          <a:off x="5040630" y="1200150"/>
          <a:ext cx="3737610" cy="21945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48" name="Google Shape;348;p6"/>
          <p:cNvSpPr/>
          <p:nvPr/>
        </p:nvSpPr>
        <p:spPr>
          <a:xfrm>
            <a:off x="5040630" y="3463290"/>
            <a:ext cx="3771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Train vs validation (mean)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5040630" y="3655314"/>
            <a:ext cx="15087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25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6"/>
          <p:cNvSpPr/>
          <p:nvPr/>
        </p:nvSpPr>
        <p:spPr>
          <a:xfrm>
            <a:off x="6549390" y="3655314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25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7303770" y="3655314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25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Val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"/>
          <p:cNvSpPr/>
          <p:nvPr/>
        </p:nvSpPr>
        <p:spPr>
          <a:xfrm>
            <a:off x="8058150" y="3655314"/>
            <a:ext cx="7200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25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Gap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6"/>
          <p:cNvCxnSpPr/>
          <p:nvPr/>
        </p:nvCxnSpPr>
        <p:spPr>
          <a:xfrm>
            <a:off x="5040630" y="3847338"/>
            <a:ext cx="373761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6"/>
          <p:cNvSpPr/>
          <p:nvPr/>
        </p:nvSpPr>
        <p:spPr>
          <a:xfrm>
            <a:off x="5040630" y="3895344"/>
            <a:ext cx="15087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6549390" y="3895344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0.1046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7303770" y="3895344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0.1302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"/>
          <p:cNvSpPr/>
          <p:nvPr/>
        </p:nvSpPr>
        <p:spPr>
          <a:xfrm>
            <a:off x="8058150" y="3895344"/>
            <a:ext cx="7200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0.0256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"/>
          <p:cNvSpPr/>
          <p:nvPr/>
        </p:nvSpPr>
        <p:spPr>
          <a:xfrm>
            <a:off x="5040630" y="4135374"/>
            <a:ext cx="15087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LightGBM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"/>
          <p:cNvSpPr/>
          <p:nvPr/>
        </p:nvSpPr>
        <p:spPr>
          <a:xfrm>
            <a:off x="6549390" y="4135374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0.0952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7303770" y="4135374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0.1304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8058150" y="4135374"/>
            <a:ext cx="7200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0.0352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"/>
          <p:cNvSpPr/>
          <p:nvPr/>
        </p:nvSpPr>
        <p:spPr>
          <a:xfrm>
            <a:off x="5040630" y="4375404"/>
            <a:ext cx="15087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CatBoost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6"/>
          <p:cNvSpPr/>
          <p:nvPr/>
        </p:nvSpPr>
        <p:spPr>
          <a:xfrm>
            <a:off x="6549390" y="4375404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0.0753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7303770" y="4375404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0.1209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"/>
          <p:cNvSpPr/>
          <p:nvPr/>
        </p:nvSpPr>
        <p:spPr>
          <a:xfrm>
            <a:off x="8058150" y="4375404"/>
            <a:ext cx="7200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0.0456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102871" y="4910328"/>
            <a:ext cx="9040901" cy="2331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6"/>
          <p:cNvSpPr/>
          <p:nvPr/>
        </p:nvSpPr>
        <p:spPr>
          <a:xfrm>
            <a:off x="240030" y="4951476"/>
            <a:ext cx="877824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Notebook 3: LASSO feature selection • tuned boosting models • final submission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graph&#10;&#10;AI-generated content may be incorrect." id="368" name="Google Shape;3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1645" y="3353790"/>
            <a:ext cx="4018045" cy="1206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oup of blue dots&#10;&#10;AI-generated content may be incorrect." id="369" name="Google Shape;36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4733" y="1104138"/>
            <a:ext cx="3869402" cy="2178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"/>
          <p:cNvSpPr/>
          <p:nvPr/>
        </p:nvSpPr>
        <p:spPr>
          <a:xfrm>
            <a:off x="3825" y="0"/>
            <a:ext cx="3717900" cy="321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7"/>
          <p:cNvSpPr txBox="1"/>
          <p:nvPr>
            <p:ph idx="2" type="title"/>
          </p:nvPr>
        </p:nvSpPr>
        <p:spPr>
          <a:xfrm>
            <a:off x="-30335" y="-10510"/>
            <a:ext cx="2473801" cy="3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</a:pPr>
            <a:r>
              <a:rPr b="1" lang="en" sz="1500">
                <a:solidFill>
                  <a:srgbClr val="1F2937"/>
                </a:solidFill>
              </a:rPr>
              <a:t>Results and final model </a:t>
            </a:r>
            <a:endParaRPr b="1" sz="1500">
              <a:solidFill>
                <a:srgbClr val="1F2937"/>
              </a:solidFill>
            </a:endParaRPr>
          </a:p>
        </p:txBody>
      </p:sp>
      <p:pic>
        <p:nvPicPr>
          <p:cNvPr descr="A graph of a distribution of sales&#10;&#10;AI-generated content may be incorrect." id="376" name="Google Shape;3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5" y="310860"/>
            <a:ext cx="4001732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7"/>
          <p:cNvSpPr/>
          <p:nvPr/>
        </p:nvSpPr>
        <p:spPr>
          <a:xfrm>
            <a:off x="5192600" y="2746275"/>
            <a:ext cx="3048600" cy="188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000000"/>
                </a:solidFill>
                <a:latin typeface="Commissioner"/>
                <a:ea typeface="Commissioner"/>
                <a:cs typeface="Commissioner"/>
                <a:sym typeface="Commissioner"/>
              </a:rPr>
              <a:t>Why Xgboost?</a:t>
            </a:r>
            <a:endParaRPr sz="1100">
              <a:latin typeface="Commissioner"/>
              <a:ea typeface="Commissioner"/>
              <a:cs typeface="Commissioner"/>
              <a:sym typeface="Commissioner"/>
            </a:endParaRPr>
          </a:p>
          <a:p>
            <a:pPr indent="-2667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missioner"/>
              <a:buChar char="•"/>
            </a:pPr>
            <a:r>
              <a:rPr i="0" lang="en" sz="1100" u="none" cap="none" strike="noStrike">
                <a:solidFill>
                  <a:srgbClr val="000000"/>
                </a:solidFill>
                <a:latin typeface="Commissioner"/>
                <a:ea typeface="Commissioner"/>
                <a:cs typeface="Commissioner"/>
                <a:sym typeface="Commissioner"/>
              </a:rPr>
              <a:t>Smallest overfit gap(val – train) across folds </a:t>
            </a:r>
            <a:endParaRPr sz="1100">
              <a:latin typeface="Commissioner"/>
              <a:ea typeface="Commissioner"/>
              <a:cs typeface="Commissioner"/>
              <a:sym typeface="Commissioner"/>
            </a:endParaRPr>
          </a:p>
          <a:p>
            <a:pPr indent="-2667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missioner"/>
              <a:buChar char="•"/>
            </a:pPr>
            <a:r>
              <a:rPr i="0" lang="en" sz="1100" u="none" cap="none" strike="noStrike">
                <a:solidFill>
                  <a:srgbClr val="000000"/>
                </a:solidFill>
                <a:latin typeface="Commissioner"/>
                <a:ea typeface="Commissioner"/>
                <a:cs typeface="Commissioner"/>
                <a:sym typeface="Commissioner"/>
              </a:rPr>
              <a:t>Stable performance vs Catboost/ Ensemble</a:t>
            </a:r>
            <a:endParaRPr sz="1100">
              <a:latin typeface="Commissioner"/>
              <a:ea typeface="Commissioner"/>
              <a:cs typeface="Commissioner"/>
              <a:sym typeface="Commissioner"/>
            </a:endParaRPr>
          </a:p>
          <a:p>
            <a:pPr indent="-2667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missioner"/>
              <a:buChar char="•"/>
            </a:pPr>
            <a:r>
              <a:rPr i="0" lang="en" sz="1100" u="none" cap="none" strike="noStrike">
                <a:solidFill>
                  <a:srgbClr val="000000"/>
                </a:solidFill>
                <a:latin typeface="Commissioner"/>
                <a:ea typeface="Commissioner"/>
                <a:cs typeface="Commissioner"/>
                <a:sym typeface="Commissioner"/>
              </a:rPr>
              <a:t>Residual plots looked more compact/ centerd </a:t>
            </a:r>
            <a:endParaRPr sz="1100">
              <a:latin typeface="Commissioner"/>
              <a:ea typeface="Commissioner"/>
              <a:cs typeface="Commissioner"/>
              <a:sym typeface="Commissioner"/>
            </a:endParaRPr>
          </a:p>
          <a:p>
            <a:pPr indent="-2667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missioner"/>
              <a:buChar char="•"/>
            </a:pPr>
            <a:r>
              <a:rPr i="0" lang="en" sz="1100" u="none" cap="none" strike="noStrike">
                <a:solidFill>
                  <a:srgbClr val="000000"/>
                </a:solidFill>
                <a:latin typeface="Commissioner"/>
                <a:ea typeface="Commissioner"/>
                <a:cs typeface="Commissioner"/>
                <a:sym typeface="Commissioner"/>
              </a:rPr>
              <a:t>Final outpoot: textprediction_xgboost.csv</a:t>
            </a:r>
            <a:endParaRPr sz="1100"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pic>
        <p:nvPicPr>
          <p:cNvPr descr="A screenshot of a cell phone&#10;&#10;AI-generated content may be incorrect." id="378" name="Google Shape;37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1933" y="-4"/>
            <a:ext cx="1122947" cy="3338763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7"/>
          <p:cNvSpPr/>
          <p:nvPr/>
        </p:nvSpPr>
        <p:spPr>
          <a:xfrm>
            <a:off x="264363" y="2882609"/>
            <a:ext cx="3196800" cy="2186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Commissioner"/>
                <a:ea typeface="Commissioner"/>
                <a:cs typeface="Commissioner"/>
                <a:sym typeface="Commissioner"/>
              </a:rPr>
              <a:t>Actual prices go up to ~755,000 Predicted prices go up to ~500,000</a:t>
            </a:r>
            <a:endParaRPr sz="1050"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050">
                <a:latin typeface="Commissioner"/>
                <a:ea typeface="Commissioner"/>
                <a:cs typeface="Commissioner"/>
                <a:sym typeface="Commissioner"/>
              </a:rPr>
              <a:t>This shows that the model avoids extreme predictions. This is a sign of controlled overfitting, not a mistake.</a:t>
            </a:r>
            <a:endParaRPr sz="1050"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050">
                <a:latin typeface="Commissioner"/>
                <a:ea typeface="Commissioner"/>
                <a:cs typeface="Commissioner"/>
                <a:sym typeface="Commissioner"/>
              </a:rPr>
              <a:t>In real applications, it is usually better to:</a:t>
            </a:r>
            <a:endParaRPr sz="1050"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500"/>
              </a:spcAft>
              <a:buNone/>
            </a:pPr>
            <a:r>
              <a:rPr lang="en" sz="1050">
                <a:latin typeface="Commissioner"/>
                <a:ea typeface="Commissioner"/>
                <a:cs typeface="Commissioner"/>
                <a:sym typeface="Commissioner"/>
              </a:rPr>
              <a:t>slightly under-predict extreme values than to overfit noise.</a:t>
            </a:r>
            <a:endParaRPr sz="105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pic>
        <p:nvPicPr>
          <p:cNvPr id="380" name="Google Shape;380;p7" title="Screenshot 2026-01-09 at 17.54.1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2662" y="-10500"/>
            <a:ext cx="3048484" cy="10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7" title="Screenshot 2026-01-09 at 17.56.2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9238" y="1229963"/>
            <a:ext cx="2195324" cy="12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5a9fe17bf_7_8"/>
          <p:cNvSpPr txBox="1"/>
          <p:nvPr>
            <p:ph type="title"/>
          </p:nvPr>
        </p:nvSpPr>
        <p:spPr>
          <a:xfrm>
            <a:off x="713250" y="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1" lang="en" sz="3000"/>
              <a:t>Classification - Drinking </a:t>
            </a:r>
            <a:r>
              <a:rPr b="1" lang="en" sz="3000"/>
              <a:t>Behaviour</a:t>
            </a:r>
            <a:endParaRPr b="1" sz="3000"/>
          </a:p>
        </p:txBody>
      </p:sp>
      <p:sp>
        <p:nvSpPr>
          <p:cNvPr id="387" name="Google Shape;387;g3b5a9fe17bf_7_8"/>
          <p:cNvSpPr txBox="1"/>
          <p:nvPr>
            <p:ph idx="4294967295" type="body"/>
          </p:nvPr>
        </p:nvSpPr>
        <p:spPr>
          <a:xfrm>
            <a:off x="198675" y="549900"/>
            <a:ext cx="92385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Objective: Predict </a:t>
            </a:r>
            <a:r>
              <a:rPr b="1" lang="en" u="sng"/>
              <a:t>drinking behaviour (Yes / No)</a:t>
            </a:r>
            <a:r>
              <a:rPr lang="en"/>
              <a:t> using various body signals (e.g. </a:t>
            </a:r>
            <a:r>
              <a:rPr lang="en"/>
              <a:t>blood pressure / liver enzymes</a:t>
            </a:r>
            <a:r>
              <a:rPr lang="en"/>
              <a:t>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missioner"/>
              <a:buChar char="■"/>
            </a:pPr>
            <a:r>
              <a:rPr lang="en"/>
              <a:t>Data: National Health Insurance Service in Korea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Train: 594,807 rows (60%)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Validation: 198,269 rows (20%)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Test: 198,270 rows (20%)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g3b5a9fe17bf_7_8"/>
          <p:cNvSpPr/>
          <p:nvPr/>
        </p:nvSpPr>
        <p:spPr>
          <a:xfrm>
            <a:off x="436025" y="2294100"/>
            <a:ext cx="3901800" cy="139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Data Preprocessing &amp; EDA</a:t>
            </a:r>
            <a:endParaRPr b="1">
              <a:latin typeface="Commissioner"/>
              <a:ea typeface="Commissioner"/>
              <a:cs typeface="Commissioner"/>
              <a:sym typeface="Commission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No missing values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Balanced target distribution (49 / 51)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Lots of outliers on numeric features so abnormally distributed + highly skewed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89" name="Google Shape;389;g3b5a9fe17bf_7_8"/>
          <p:cNvSpPr/>
          <p:nvPr/>
        </p:nvSpPr>
        <p:spPr>
          <a:xfrm>
            <a:off x="3454750" y="1368650"/>
            <a:ext cx="459300" cy="684300"/>
          </a:xfrm>
          <a:prstGeom prst="rightBrace">
            <a:avLst>
              <a:gd fmla="val 50000" name="adj1"/>
              <a:gd fmla="val 49317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90" name="Google Shape;390;g3b5a9fe17bf_7_8"/>
          <p:cNvSpPr txBox="1"/>
          <p:nvPr/>
        </p:nvSpPr>
        <p:spPr>
          <a:xfrm>
            <a:off x="4039650" y="1307900"/>
            <a:ext cx="43911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To avoid data leakage, data split done beforehand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-"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Total observations: 991,346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-"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Total columns: 24 (including target variable)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91" name="Google Shape;391;g3b5a9fe17bf_7_8"/>
          <p:cNvSpPr/>
          <p:nvPr/>
        </p:nvSpPr>
        <p:spPr>
          <a:xfrm>
            <a:off x="4793875" y="2294100"/>
            <a:ext cx="4124400" cy="139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Feature Selection &amp; Engineering</a:t>
            </a:r>
            <a:endParaRPr b="1">
              <a:latin typeface="Commissioner"/>
              <a:ea typeface="Commissioner"/>
              <a:cs typeface="Commissioner"/>
              <a:sym typeface="Commission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Spearman correlation (ordinal &amp; numeric)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ANOVA (target with numeric features)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Cramér’s V (target and nominal variables)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Log transformation on skewed numerics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92" name="Google Shape;392;g3b5a9fe17bf_7_8"/>
          <p:cNvSpPr/>
          <p:nvPr/>
        </p:nvSpPr>
        <p:spPr>
          <a:xfrm>
            <a:off x="436025" y="3868500"/>
            <a:ext cx="8482200" cy="881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Evaluation Metrics on Models</a:t>
            </a:r>
            <a:endParaRPr b="1">
              <a:latin typeface="Commissioner"/>
              <a:ea typeface="Commissioner"/>
              <a:cs typeface="Commissioner"/>
              <a:sym typeface="Commissioner"/>
            </a:endParaRPr>
          </a:p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AutoNum type="arabicPeriod"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ROC-AUC: whether well-</a:t>
            </a: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separate</a:t>
            </a: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 between drinkers and non-drinkers across all thresholds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AutoNum type="arabicPeriod"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BA: assess performance at fixed </a:t>
            </a: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threshold</a:t>
            </a: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 while ensuring equal importance of both classes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5d290a61c_0_0"/>
          <p:cNvSpPr txBox="1"/>
          <p:nvPr>
            <p:ph type="title"/>
          </p:nvPr>
        </p:nvSpPr>
        <p:spPr>
          <a:xfrm>
            <a:off x="713250" y="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1" lang="en" sz="3000"/>
              <a:t>Model Training</a:t>
            </a:r>
            <a:endParaRPr b="1" sz="3000"/>
          </a:p>
        </p:txBody>
      </p:sp>
      <p:sp>
        <p:nvSpPr>
          <p:cNvPr id="398" name="Google Shape;398;g3b5d290a61c_0_0"/>
          <p:cNvSpPr/>
          <p:nvPr/>
        </p:nvSpPr>
        <p:spPr>
          <a:xfrm>
            <a:off x="518750" y="549900"/>
            <a:ext cx="3587100" cy="32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2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Classification Decision Tree (Baseline - CART)</a:t>
            </a:r>
            <a:endParaRPr sz="120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pic>
        <p:nvPicPr>
          <p:cNvPr id="399" name="Google Shape;399;g3b5d290a61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974" y="1682175"/>
            <a:ext cx="2382646" cy="1856362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3b5d290a61c_0_0"/>
          <p:cNvSpPr/>
          <p:nvPr/>
        </p:nvSpPr>
        <p:spPr>
          <a:xfrm>
            <a:off x="5024425" y="549900"/>
            <a:ext cx="3587100" cy="476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2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Random Forest</a:t>
            </a:r>
            <a:r>
              <a:rPr b="1" lang="en" sz="12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 (subsample ~ 200k)</a:t>
            </a:r>
            <a:endParaRPr sz="1200"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>
                <a:latin typeface="Commissioner"/>
                <a:ea typeface="Commissioner"/>
                <a:cs typeface="Commissioner"/>
                <a:sym typeface="Commissioner"/>
              </a:rPr>
              <a:t>OOB (ROC-AUC): 0.7325</a:t>
            </a:r>
            <a:endParaRPr sz="120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pic>
        <p:nvPicPr>
          <p:cNvPr id="401" name="Google Shape;401;g3b5d290a61c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1825" y="3598300"/>
            <a:ext cx="2820951" cy="144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3b5d290a61c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388" y="911490"/>
            <a:ext cx="3649824" cy="731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b5d290a61c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0603" y="3233375"/>
            <a:ext cx="2654722" cy="185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3b5d290a61c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26800" y="1101925"/>
            <a:ext cx="2582348" cy="213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g3b5d290a61c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8599" y="1682175"/>
            <a:ext cx="3387425" cy="3417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5d290a61c_0_41"/>
          <p:cNvSpPr txBox="1"/>
          <p:nvPr>
            <p:ph type="title"/>
          </p:nvPr>
        </p:nvSpPr>
        <p:spPr>
          <a:xfrm>
            <a:off x="713250" y="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1" lang="en" sz="3000"/>
              <a:t>Model Training &amp; Evaluation</a:t>
            </a:r>
            <a:endParaRPr b="1" sz="3000"/>
          </a:p>
        </p:txBody>
      </p:sp>
      <p:pic>
        <p:nvPicPr>
          <p:cNvPr id="411" name="Google Shape;411;g3b5d290a61c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288" y="939288"/>
            <a:ext cx="2614008" cy="20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3b5d290a61c_0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3275" y="663888"/>
            <a:ext cx="3666751" cy="2103927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b5d290a61c_0_41"/>
          <p:cNvSpPr/>
          <p:nvPr/>
        </p:nvSpPr>
        <p:spPr>
          <a:xfrm>
            <a:off x="518750" y="549900"/>
            <a:ext cx="3587100" cy="32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2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XGBoost / CatBoost</a:t>
            </a:r>
            <a:endParaRPr sz="120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pic>
        <p:nvPicPr>
          <p:cNvPr id="414" name="Google Shape;414;g3b5d290a61c_0_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3450" y="2881800"/>
            <a:ext cx="3746397" cy="220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3b5d290a61c_0_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713" y="3039575"/>
            <a:ext cx="3205142" cy="210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5d290a61c_0_75"/>
          <p:cNvSpPr txBox="1"/>
          <p:nvPr>
            <p:ph type="title"/>
          </p:nvPr>
        </p:nvSpPr>
        <p:spPr>
          <a:xfrm>
            <a:off x="713250" y="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1" lang="en" sz="3000"/>
              <a:t>Model Final Test - XGBoost</a:t>
            </a:r>
            <a:endParaRPr b="1" sz="3000"/>
          </a:p>
        </p:txBody>
      </p:sp>
      <p:pic>
        <p:nvPicPr>
          <p:cNvPr id="421" name="Google Shape;421;g3b5d290a61c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150" y="1171838"/>
            <a:ext cx="3801099" cy="3836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g3b5d290a61c_0_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9775" y="1203075"/>
            <a:ext cx="4346175" cy="377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b5d290a61c_0_75"/>
          <p:cNvSpPr/>
          <p:nvPr/>
        </p:nvSpPr>
        <p:spPr>
          <a:xfrm>
            <a:off x="518750" y="549900"/>
            <a:ext cx="7911900" cy="54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2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TRAIN - ROC-AUC: 0.8272, Balanced Acc: 0.7441</a:t>
            </a:r>
            <a:r>
              <a:rPr lang="en" sz="12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, Acc: 0.7441, Prec: 0.7411, Recall: 0.7502 </a:t>
            </a:r>
            <a:endParaRPr sz="1200">
              <a:solidFill>
                <a:srgbClr val="1F2937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2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TEST - ROC-AUC: 0.8199, Balanced Acc: 0.7378</a:t>
            </a:r>
            <a:r>
              <a:rPr lang="en" sz="1200">
                <a:solidFill>
                  <a:srgbClr val="1F2937"/>
                </a:solidFill>
                <a:latin typeface="Commissioner"/>
                <a:ea typeface="Commissioner"/>
                <a:cs typeface="Commissioner"/>
                <a:sym typeface="Commissioner"/>
              </a:rPr>
              <a:t>, Acc: 0.7378, Prec: 0.7351, Recall: 0.7432</a:t>
            </a:r>
            <a:endParaRPr sz="1200"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5d290a61c_0_37"/>
          <p:cNvSpPr txBox="1"/>
          <p:nvPr>
            <p:ph type="title"/>
          </p:nvPr>
        </p:nvSpPr>
        <p:spPr>
          <a:xfrm>
            <a:off x="1864800" y="1219025"/>
            <a:ext cx="54144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 sz="7000"/>
              <a:t>The End</a:t>
            </a:r>
            <a:endParaRPr b="1" sz="7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